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97" r:id="rId2"/>
    <p:sldId id="313" r:id="rId3"/>
    <p:sldId id="298" r:id="rId4"/>
    <p:sldId id="302" r:id="rId5"/>
    <p:sldId id="318" r:id="rId6"/>
    <p:sldId id="304" r:id="rId7"/>
    <p:sldId id="319" r:id="rId8"/>
    <p:sldId id="306" r:id="rId9"/>
    <p:sldId id="314" r:id="rId10"/>
    <p:sldId id="315" r:id="rId11"/>
    <p:sldId id="308" r:id="rId12"/>
    <p:sldId id="310" r:id="rId13"/>
    <p:sldId id="317" r:id="rId14"/>
    <p:sldId id="311" r:id="rId15"/>
    <p:sldId id="316" r:id="rId16"/>
    <p:sldId id="312" r:id="rId17"/>
  </p:sldIdLst>
  <p:sldSz cx="12192000" cy="6858000"/>
  <p:notesSz cx="6858000" cy="9144000"/>
  <p:embeddedFontLst>
    <p:embeddedFont>
      <p:font typeface="Georgia" panose="02040502050405020303" pitchFamily="18"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zPzfW/Eqj5INjXEMP3JF+w7YJ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2D7396-3E8A-4C48-A43C-EBEA59809495}">
  <a:tblStyle styleId="{2C2D7396-3E8A-4C48-A43C-EBEA598094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5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6_Title and Content">
    <p:spTree>
      <p:nvGrpSpPr>
        <p:cNvPr id="1" name="Shape 15"/>
        <p:cNvGrpSpPr/>
        <p:nvPr/>
      </p:nvGrpSpPr>
      <p:grpSpPr>
        <a:xfrm>
          <a:off x="0" y="0"/>
          <a:ext cx="0" cy="0"/>
          <a:chOff x="0" y="0"/>
          <a:chExt cx="0" cy="0"/>
        </a:xfrm>
      </p:grpSpPr>
      <p:sp>
        <p:nvSpPr>
          <p:cNvPr id="16" name="Google Shape;16;p61"/>
          <p:cNvSpPr/>
          <p:nvPr/>
        </p:nvSpPr>
        <p:spPr>
          <a:xfrm>
            <a:off x="0" y="13"/>
            <a:ext cx="12192000" cy="819151"/>
          </a:xfrm>
          <a:prstGeom prst="rect">
            <a:avLst/>
          </a:prstGeom>
          <a:solidFill>
            <a:srgbClr val="D5DBE5"/>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Calibri"/>
              <a:ea typeface="Calibri"/>
              <a:cs typeface="Calibri"/>
              <a:sym typeface="Calibri"/>
            </a:endParaRPr>
          </a:p>
        </p:txBody>
      </p:sp>
      <p:sp>
        <p:nvSpPr>
          <p:cNvPr id="17" name="Google Shape;17;p61"/>
          <p:cNvSpPr txBox="1">
            <a:spLocks noGrp="1"/>
          </p:cNvSpPr>
          <p:nvPr>
            <p:ph type="title"/>
          </p:nvPr>
        </p:nvSpPr>
        <p:spPr>
          <a:xfrm>
            <a:off x="228600" y="184714"/>
            <a:ext cx="10515600" cy="521639"/>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23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 name="Google Shape;18;p61"/>
          <p:cNvSpPr txBox="1">
            <a:spLocks noGrp="1"/>
          </p:cNvSpPr>
          <p:nvPr>
            <p:ph type="sldNum" idx="12"/>
          </p:nvPr>
        </p:nvSpPr>
        <p:spPr>
          <a:xfrm>
            <a:off x="11639552" y="6350000"/>
            <a:ext cx="390525" cy="288925"/>
          </a:xfrm>
          <a:prstGeom prst="rect">
            <a:avLst/>
          </a:prstGeom>
          <a:noFill/>
          <a:ln>
            <a:noFill/>
          </a:ln>
        </p:spPr>
        <p:txBody>
          <a:bodyPr spcFirstLastPara="1" wrap="square" lIns="91400" tIns="45675" rIns="91400" bIns="45675"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9" name="Google Shape;19;p61"/>
          <p:cNvCxnSpPr/>
          <p:nvPr/>
        </p:nvCxnSpPr>
        <p:spPr>
          <a:xfrm>
            <a:off x="13" y="6457951"/>
            <a:ext cx="9608457"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24"/>
        <p:cNvGrpSpPr/>
        <p:nvPr/>
      </p:nvGrpSpPr>
      <p:grpSpPr>
        <a:xfrm>
          <a:off x="0" y="0"/>
          <a:ext cx="0" cy="0"/>
          <a:chOff x="0" y="0"/>
          <a:chExt cx="0" cy="0"/>
        </a:xfrm>
      </p:grpSpPr>
      <p:sp>
        <p:nvSpPr>
          <p:cNvPr id="25" name="Google Shape;25;gf3a8d4be09_2_86"/>
          <p:cNvSpPr/>
          <p:nvPr/>
        </p:nvSpPr>
        <p:spPr>
          <a:xfrm>
            <a:off x="0" y="3"/>
            <a:ext cx="12192000" cy="819300"/>
          </a:xfrm>
          <a:prstGeom prst="rect">
            <a:avLst/>
          </a:prstGeom>
          <a:solidFill>
            <a:srgbClr val="D5DBE5"/>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900" b="0" i="0" u="none" strike="noStrike" cap="none">
              <a:solidFill>
                <a:schemeClr val="lt1"/>
              </a:solidFill>
              <a:latin typeface="Calibri"/>
              <a:ea typeface="Calibri"/>
              <a:cs typeface="Calibri"/>
              <a:sym typeface="Calibri"/>
            </a:endParaRPr>
          </a:p>
        </p:txBody>
      </p:sp>
      <p:sp>
        <p:nvSpPr>
          <p:cNvPr id="26" name="Google Shape;26;gf3a8d4be09_2_86"/>
          <p:cNvSpPr txBox="1">
            <a:spLocks noGrp="1"/>
          </p:cNvSpPr>
          <p:nvPr>
            <p:ph type="title"/>
          </p:nvPr>
        </p:nvSpPr>
        <p:spPr>
          <a:xfrm>
            <a:off x="228600" y="187044"/>
            <a:ext cx="10515600" cy="517024"/>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30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gf3a8d4be09_2_86"/>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gf3a8d4be09_2_86"/>
          <p:cNvCxnSpPr/>
          <p:nvPr/>
        </p:nvCxnSpPr>
        <p:spPr>
          <a:xfrm>
            <a:off x="0" y="6457951"/>
            <a:ext cx="9608400"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39"/>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9"/>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9"/>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9"/>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9"/>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831851" y="1709750"/>
            <a:ext cx="10515600" cy="2852737"/>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0"/>
          <p:cNvSpPr txBox="1">
            <a:spLocks noGrp="1"/>
          </p:cNvSpPr>
          <p:nvPr>
            <p:ph type="body" idx="1"/>
          </p:nvPr>
        </p:nvSpPr>
        <p:spPr>
          <a:xfrm>
            <a:off x="831851" y="4589465"/>
            <a:ext cx="10515600" cy="1500187"/>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9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2" name="Google Shape;52;p40"/>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0"/>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0"/>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43"/>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3"/>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3"/>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3"/>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44"/>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4"/>
          <p:cNvSpPr txBox="1">
            <a:spLocks noGrp="1"/>
          </p:cNvSpPr>
          <p:nvPr>
            <p:ph type="body" idx="1"/>
          </p:nvPr>
        </p:nvSpPr>
        <p:spPr>
          <a:xfrm>
            <a:off x="5183188" y="987437"/>
            <a:ext cx="6172200" cy="4873625"/>
          </a:xfrm>
          <a:prstGeom prst="rect">
            <a:avLst/>
          </a:prstGeom>
          <a:noFill/>
          <a:ln>
            <a:noFill/>
          </a:ln>
        </p:spPr>
        <p:txBody>
          <a:bodyPr spcFirstLastPara="1" wrap="square" lIns="91400" tIns="45675" rIns="91400" bIns="45675"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44"/>
          <p:cNvSpPr txBox="1">
            <a:spLocks noGrp="1"/>
          </p:cNvSpPr>
          <p:nvPr>
            <p:ph type="body" idx="2"/>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1" name="Google Shape;71;p44"/>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4"/>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4"/>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a:spLocks noGrp="1"/>
          </p:cNvSpPr>
          <p:nvPr>
            <p:ph type="pic" idx="2"/>
          </p:nvPr>
        </p:nvSpPr>
        <p:spPr>
          <a:xfrm>
            <a:off x="5183188" y="987437"/>
            <a:ext cx="6172200" cy="4873625"/>
          </a:xfrm>
          <a:prstGeom prst="rect">
            <a:avLst/>
          </a:prstGeom>
          <a:noFill/>
          <a:ln>
            <a:noFill/>
          </a:ln>
        </p:spPr>
      </p:sp>
      <p:sp>
        <p:nvSpPr>
          <p:cNvPr id="77" name="Google Shape;77;p45"/>
          <p:cNvSpPr txBox="1">
            <a:spLocks noGrp="1"/>
          </p:cNvSpPr>
          <p:nvPr>
            <p:ph type="body" idx="1"/>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8" name="Google Shape;78;p4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46"/>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6"/>
          <p:cNvSpPr txBox="1">
            <a:spLocks noGrp="1"/>
          </p:cNvSpPr>
          <p:nvPr>
            <p:ph type="body" idx="1"/>
          </p:nvPr>
        </p:nvSpPr>
        <p:spPr>
          <a:xfrm rot="5400000">
            <a:off x="3920333" y="-1256507"/>
            <a:ext cx="4351339" cy="105156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6"/>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6"/>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6"/>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47"/>
          <p:cNvSpPr txBox="1">
            <a:spLocks noGrp="1"/>
          </p:cNvSpPr>
          <p:nvPr>
            <p:ph type="title"/>
          </p:nvPr>
        </p:nvSpPr>
        <p:spPr>
          <a:xfrm rot="5400000">
            <a:off x="7133442" y="1956595"/>
            <a:ext cx="5811839" cy="2628900"/>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7"/>
          <p:cNvSpPr txBox="1">
            <a:spLocks noGrp="1"/>
          </p:cNvSpPr>
          <p:nvPr>
            <p:ph type="body" idx="1"/>
          </p:nvPr>
        </p:nvSpPr>
        <p:spPr>
          <a:xfrm rot="5400000">
            <a:off x="1799442" y="-596106"/>
            <a:ext cx="5811839" cy="77343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7"/>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7"/>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7"/>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5"/>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5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5" r:id="rId4"/>
    <p:sldLayoutId id="2147483657" r:id="rId5"/>
    <p:sldLayoutId id="2147483658"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POWER TRADING</a:t>
            </a:r>
          </a:p>
        </p:txBody>
      </p:sp>
      <p:sp>
        <p:nvSpPr>
          <p:cNvPr id="3" name="Text Placeholder 2"/>
          <p:cNvSpPr>
            <a:spLocks noGrp="1"/>
          </p:cNvSpPr>
          <p:nvPr>
            <p:ph type="body" idx="1"/>
          </p:nvPr>
        </p:nvSpPr>
        <p:spPr/>
        <p:txBody>
          <a:bodyPr/>
          <a:lstStyle/>
          <a:p>
            <a:endParaRPr lang="en-IN" dirty="0"/>
          </a:p>
        </p:txBody>
      </p:sp>
      <p:sp>
        <p:nvSpPr>
          <p:cNvPr id="4" name="Google Shape;98;p2"/>
          <p:cNvSpPr txBox="1"/>
          <p:nvPr/>
        </p:nvSpPr>
        <p:spPr>
          <a:xfrm>
            <a:off x="242944" y="860611"/>
            <a:ext cx="3537600"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Times New Roman"/>
              <a:ea typeface="Times New Roman"/>
              <a:cs typeface="Times New Roman"/>
              <a:sym typeface="Times New Roman"/>
            </a:endParaRPr>
          </a:p>
        </p:txBody>
      </p:sp>
      <p:pic>
        <p:nvPicPr>
          <p:cNvPr id="5" name="Google Shape;99;p2"/>
          <p:cNvPicPr preferRelativeResize="0"/>
          <p:nvPr/>
        </p:nvPicPr>
        <p:blipFill rotWithShape="1">
          <a:blip r:embed="rId2">
            <a:alphaModFix/>
          </a:blip>
          <a:srcRect/>
          <a:stretch/>
        </p:blipFill>
        <p:spPr>
          <a:xfrm>
            <a:off x="14086508" y="11637873"/>
            <a:ext cx="158226" cy="163709"/>
          </a:xfrm>
          <a:prstGeom prst="rect">
            <a:avLst/>
          </a:prstGeom>
          <a:noFill/>
          <a:ln>
            <a:noFill/>
          </a:ln>
        </p:spPr>
      </p:pic>
      <p:pic>
        <p:nvPicPr>
          <p:cNvPr id="6" name="Picture 2" descr="360DigiTMG Reviews - 52 Reviews of 360digitmg.com | Sitejabb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315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5DBB1-A450-8351-DC73-A0A8298938AF}"/>
              </a:ext>
            </a:extLst>
          </p:cNvPr>
          <p:cNvSpPr>
            <a:spLocks noGrp="1"/>
          </p:cNvSpPr>
          <p:nvPr>
            <p:ph type="title"/>
          </p:nvPr>
        </p:nvSpPr>
        <p:spPr/>
        <p:txBody>
          <a:bodyPr/>
          <a:lstStyle/>
          <a:p>
            <a:r>
              <a:rPr lang="en-IN" dirty="0"/>
              <a:t>Contents</a:t>
            </a:r>
          </a:p>
        </p:txBody>
      </p:sp>
      <p:sp>
        <p:nvSpPr>
          <p:cNvPr id="3" name="Text Placeholder 2">
            <a:extLst>
              <a:ext uri="{FF2B5EF4-FFF2-40B4-BE49-F238E27FC236}">
                <a16:creationId xmlns:a16="http://schemas.microsoft.com/office/drawing/2014/main" id="{238B4688-23C3-6F8F-ED97-34FB8185143D}"/>
              </a:ext>
            </a:extLst>
          </p:cNvPr>
          <p:cNvSpPr>
            <a:spLocks noGrp="1"/>
          </p:cNvSpPr>
          <p:nvPr>
            <p:ph type="body" idx="1"/>
          </p:nvPr>
        </p:nvSpPr>
        <p:spPr/>
        <p:txBody>
          <a:bodyPr/>
          <a:lstStyle/>
          <a:p>
            <a:pPr marL="457200" lvl="0" indent="-431800" algn="l" rtl="0">
              <a:lnSpc>
                <a:spcPct val="90000"/>
              </a:lnSpc>
              <a:spcBef>
                <a:spcPts val="0"/>
              </a:spcBef>
              <a:spcAft>
                <a:spcPts val="0"/>
              </a:spcAft>
              <a:buClr>
                <a:schemeClr val="dk1"/>
              </a:buClr>
              <a:buSzPts val="3200"/>
              <a:buFont typeface="Times New Roman"/>
              <a:buChar char="●"/>
            </a:pPr>
            <a:r>
              <a:rPr lang="en-US" sz="2800" dirty="0">
                <a:solidFill>
                  <a:schemeClr val="dk1"/>
                </a:solidFill>
                <a:latin typeface="Times New Roman"/>
                <a:ea typeface="Times New Roman"/>
                <a:cs typeface="Times New Roman"/>
                <a:sym typeface="Times New Roman"/>
              </a:rPr>
              <a:t>Business Objective</a:t>
            </a:r>
          </a:p>
          <a:p>
            <a:pPr marL="457200" lvl="0" indent="-431800" algn="l" rtl="0">
              <a:lnSpc>
                <a:spcPct val="90000"/>
              </a:lnSpc>
              <a:spcBef>
                <a:spcPts val="0"/>
              </a:spcBef>
              <a:spcAft>
                <a:spcPts val="0"/>
              </a:spcAft>
              <a:buClr>
                <a:schemeClr val="dk1"/>
              </a:buClr>
              <a:buSzPts val="3200"/>
              <a:buFont typeface="Times New Roman"/>
              <a:buChar char="●"/>
            </a:pPr>
            <a:r>
              <a:rPr lang="en-US" sz="2800" dirty="0">
                <a:solidFill>
                  <a:schemeClr val="dk1"/>
                </a:solidFill>
                <a:latin typeface="Times New Roman"/>
                <a:ea typeface="Times New Roman"/>
                <a:cs typeface="Times New Roman"/>
                <a:sym typeface="Times New Roman"/>
              </a:rPr>
              <a:t>Business Constraints</a:t>
            </a:r>
          </a:p>
          <a:p>
            <a:pPr marL="457200" lvl="0" indent="-431800" algn="l" rtl="0">
              <a:lnSpc>
                <a:spcPct val="90000"/>
              </a:lnSpc>
              <a:spcBef>
                <a:spcPts val="0"/>
              </a:spcBef>
              <a:spcAft>
                <a:spcPts val="0"/>
              </a:spcAft>
              <a:buClr>
                <a:schemeClr val="dk1"/>
              </a:buClr>
              <a:buSzPts val="3200"/>
              <a:buFont typeface="Times New Roman"/>
              <a:buChar char="●"/>
            </a:pPr>
            <a:r>
              <a:rPr lang="en-US" sz="2800" dirty="0">
                <a:solidFill>
                  <a:schemeClr val="dk1"/>
                </a:solidFill>
                <a:latin typeface="Times New Roman"/>
                <a:ea typeface="Times New Roman"/>
                <a:cs typeface="Times New Roman"/>
                <a:sym typeface="Times New Roman"/>
              </a:rPr>
              <a:t>Project Architecture</a:t>
            </a:r>
          </a:p>
          <a:p>
            <a:pPr marL="457200" lvl="0" indent="-431800" algn="l" rtl="0">
              <a:lnSpc>
                <a:spcPct val="90000"/>
              </a:lnSpc>
              <a:spcBef>
                <a:spcPts val="0"/>
              </a:spcBef>
              <a:spcAft>
                <a:spcPts val="0"/>
              </a:spcAft>
              <a:buClr>
                <a:schemeClr val="dk1"/>
              </a:buClr>
              <a:buSzPts val="3200"/>
              <a:buFont typeface="Times New Roman"/>
              <a:buChar char="●"/>
            </a:pPr>
            <a:r>
              <a:rPr lang="en-US" sz="2800" dirty="0">
                <a:solidFill>
                  <a:schemeClr val="dk1"/>
                </a:solidFill>
                <a:latin typeface="Times New Roman"/>
                <a:ea typeface="Times New Roman"/>
                <a:cs typeface="Times New Roman"/>
                <a:sym typeface="Times New Roman"/>
              </a:rPr>
              <a:t>Data Collection</a:t>
            </a:r>
          </a:p>
          <a:p>
            <a:pPr marL="457200" lvl="0" indent="-431800" algn="l" rtl="0">
              <a:lnSpc>
                <a:spcPct val="90000"/>
              </a:lnSpc>
              <a:spcBef>
                <a:spcPts val="0"/>
              </a:spcBef>
              <a:spcAft>
                <a:spcPts val="0"/>
              </a:spcAft>
              <a:buClr>
                <a:schemeClr val="dk1"/>
              </a:buClr>
              <a:buSzPts val="3200"/>
              <a:buFont typeface="Times New Roman"/>
              <a:buChar char="●"/>
            </a:pPr>
            <a:r>
              <a:rPr lang="en-US" sz="2800" dirty="0">
                <a:solidFill>
                  <a:schemeClr val="dk1"/>
                </a:solidFill>
                <a:latin typeface="Times New Roman"/>
                <a:ea typeface="Times New Roman"/>
                <a:cs typeface="Times New Roman"/>
                <a:sym typeface="Times New Roman"/>
              </a:rPr>
              <a:t>Exploratory Data Analysis</a:t>
            </a:r>
          </a:p>
          <a:p>
            <a:pPr marL="457200" lvl="0" indent="-431800" algn="l" rtl="0">
              <a:lnSpc>
                <a:spcPct val="90000"/>
              </a:lnSpc>
              <a:spcBef>
                <a:spcPts val="0"/>
              </a:spcBef>
              <a:spcAft>
                <a:spcPts val="0"/>
              </a:spcAft>
              <a:buClr>
                <a:schemeClr val="dk1"/>
              </a:buClr>
              <a:buSzPts val="3200"/>
              <a:buFont typeface="Times New Roman"/>
              <a:buChar char="●"/>
            </a:pPr>
            <a:r>
              <a:rPr lang="en-US" sz="2800" dirty="0">
                <a:solidFill>
                  <a:schemeClr val="dk1"/>
                </a:solidFill>
                <a:latin typeface="Times New Roman"/>
                <a:ea typeface="Times New Roman"/>
                <a:cs typeface="Times New Roman"/>
                <a:sym typeface="Times New Roman"/>
              </a:rPr>
              <a:t>Data Visualization</a:t>
            </a:r>
            <a:endParaRPr lang="en-IN" dirty="0"/>
          </a:p>
        </p:txBody>
      </p:sp>
      <p:pic>
        <p:nvPicPr>
          <p:cNvPr id="4" name="Picture 2" descr="360DigiTMG Reviews - 52 Reviews of 360digitmg.com | Sitejabber">
            <a:extLst>
              <a:ext uri="{FF2B5EF4-FFF2-40B4-BE49-F238E27FC236}">
                <a16:creationId xmlns:a16="http://schemas.microsoft.com/office/drawing/2014/main" id="{ABBF5267-DAE5-E523-147C-38E9E6B48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858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Problem</a:t>
            </a:r>
          </a:p>
        </p:txBody>
      </p:sp>
      <p:sp>
        <p:nvSpPr>
          <p:cNvPr id="3" name="TextBox 2"/>
          <p:cNvSpPr txBox="1"/>
          <p:nvPr/>
        </p:nvSpPr>
        <p:spPr>
          <a:xfrm>
            <a:off x="108155" y="924231"/>
            <a:ext cx="11906864" cy="5693866"/>
          </a:xfrm>
          <a:prstGeom prst="rect">
            <a:avLst/>
          </a:prstGeom>
          <a:noFill/>
        </p:spPr>
        <p:txBody>
          <a:bodyPr wrap="square">
            <a:spAutoFit/>
          </a:bodyPr>
          <a:lstStyle/>
          <a:p>
            <a:r>
              <a:rPr dirty="0"/>
              <a:t>Intraday power trading is highly volatile due to multiple factors:</a:t>
            </a:r>
          </a:p>
          <a:p>
            <a:r>
              <a:rPr dirty="0"/>
              <a:t>- Fluctuating supply-demand dynamics</a:t>
            </a:r>
          </a:p>
          <a:p>
            <a:r>
              <a:rPr dirty="0"/>
              <a:t>- Unpredictable weather conditions</a:t>
            </a:r>
          </a:p>
          <a:p>
            <a:r>
              <a:rPr dirty="0"/>
              <a:t>- Market speculation</a:t>
            </a:r>
          </a:p>
          <a:p>
            <a:r>
              <a:rPr dirty="0"/>
              <a:t>- Regulatory changes</a:t>
            </a:r>
          </a:p>
          <a:p>
            <a:endParaRPr dirty="0"/>
          </a:p>
          <a:p>
            <a:r>
              <a:rPr dirty="0"/>
              <a:t>Impact: These challenges hinder traders and energy providers from optimizing pricing and risk management strategies.</a:t>
            </a:r>
            <a:endParaRPr lang="en-IN" dirty="0"/>
          </a:p>
          <a:p>
            <a:endParaRPr lang="en-IN" dirty="0"/>
          </a:p>
          <a:p>
            <a:r>
              <a:rPr lang="en-IN" b="1" dirty="0"/>
              <a:t>Business Objectives</a:t>
            </a:r>
          </a:p>
          <a:p>
            <a:r>
              <a:rPr lang="en-US" dirty="0"/>
              <a:t>-Analyze and understand causes of price volatility in intraday power trading</a:t>
            </a:r>
          </a:p>
          <a:p>
            <a:r>
              <a:rPr lang="en-US" dirty="0"/>
              <a:t>- Develop data-driven strategies to optimize power trading decisions</a:t>
            </a:r>
          </a:p>
          <a:p>
            <a:pPr marL="285750" indent="-285750">
              <a:buFontTx/>
              <a:buChar char="-"/>
            </a:pPr>
            <a:r>
              <a:rPr lang="en-US" dirty="0"/>
              <a:t>Build predictive models for price trends using historical and real-time market data</a:t>
            </a:r>
          </a:p>
          <a:p>
            <a:pPr marL="285750" indent="-285750">
              <a:buFontTx/>
              <a:buChar char="-"/>
            </a:pPr>
            <a:endParaRPr lang="en-US" dirty="0"/>
          </a:p>
          <a:p>
            <a:r>
              <a:rPr lang="en-US" b="1" dirty="0"/>
              <a:t>Business Constraints</a:t>
            </a:r>
          </a:p>
          <a:p>
            <a:r>
              <a:rPr lang="en-US" dirty="0"/>
              <a:t>- Limited availability and accuracy of real-time market data</a:t>
            </a:r>
          </a:p>
          <a:p>
            <a:r>
              <a:rPr lang="en-US" dirty="0"/>
              <a:t>- Rapid changes in regulatory frameworks</a:t>
            </a:r>
          </a:p>
          <a:p>
            <a:r>
              <a:rPr lang="en-US" dirty="0"/>
              <a:t>- Integration challenges between renewable and traditional energy sources</a:t>
            </a:r>
          </a:p>
          <a:p>
            <a:pPr marL="285750" indent="-285750">
              <a:buFontTx/>
              <a:buChar char="-"/>
            </a:pPr>
            <a:r>
              <a:rPr lang="en-US" dirty="0"/>
              <a:t>Computational constraints in real-time analysis of large datasets</a:t>
            </a:r>
          </a:p>
          <a:p>
            <a:endParaRPr lang="en-US" dirty="0"/>
          </a:p>
          <a:p>
            <a:r>
              <a:rPr lang="en-US" b="1" dirty="0"/>
              <a:t>Success Criteria</a:t>
            </a:r>
          </a:p>
          <a:p>
            <a:r>
              <a:rPr lang="en-US" dirty="0"/>
              <a:t>Business Success: Improved intraday power trading decisions → higher profit margins</a:t>
            </a:r>
          </a:p>
          <a:p>
            <a:r>
              <a:rPr lang="en-US" dirty="0"/>
              <a:t>Economic Success: Reduced losses due to price volatility, enhanced forecasting accuracy</a:t>
            </a:r>
          </a:p>
          <a:p>
            <a:r>
              <a:rPr lang="en-US" dirty="0"/>
              <a:t>ML Success: Accurate models that predict and adapt to market fluctuations effectively</a:t>
            </a:r>
          </a:p>
          <a:p>
            <a:endParaRPr lang="en-US" dirty="0"/>
          </a:p>
          <a:p>
            <a:pPr marL="285750" indent="-285750">
              <a:buFontTx/>
              <a:buChar char="-"/>
            </a:pPr>
            <a:endParaRPr lang="en-US" dirty="0"/>
          </a:p>
          <a:p>
            <a:endParaRPr dirty="0"/>
          </a:p>
        </p:txBody>
      </p:sp>
      <p:pic>
        <p:nvPicPr>
          <p:cNvPr id="4" name="Picture 2" descr="360DigiTMG Reviews - 52 Reviews of 360digitmg.com | Sitejabber">
            <a:extLst>
              <a:ext uri="{FF2B5EF4-FFF2-40B4-BE49-F238E27FC236}">
                <a16:creationId xmlns:a16="http://schemas.microsoft.com/office/drawing/2014/main" id="{C3AB2B99-98EB-8F95-25CA-72F6FF300A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Project Overview</a:t>
            </a:r>
            <a:r>
              <a:rPr lang="en-IN" dirty="0"/>
              <a:t> &amp; Scope</a:t>
            </a:r>
            <a:endParaRPr dirty="0"/>
          </a:p>
        </p:txBody>
      </p:sp>
      <p:sp>
        <p:nvSpPr>
          <p:cNvPr id="3" name="TextBox 2"/>
          <p:cNvSpPr txBox="1"/>
          <p:nvPr/>
        </p:nvSpPr>
        <p:spPr>
          <a:xfrm>
            <a:off x="0" y="816078"/>
            <a:ext cx="12192000" cy="5909310"/>
          </a:xfrm>
          <a:prstGeom prst="rect">
            <a:avLst/>
          </a:prstGeom>
          <a:noFill/>
        </p:spPr>
        <p:txBody>
          <a:bodyPr wrap="square">
            <a:spAutoFit/>
          </a:bodyPr>
          <a:lstStyle/>
          <a:p>
            <a:pPr>
              <a:buNone/>
            </a:pPr>
            <a:r>
              <a:rPr lang="en-IN" b="1" dirty="0"/>
              <a:t>Project Overview</a:t>
            </a:r>
          </a:p>
          <a:p>
            <a:pPr>
              <a:buNone/>
            </a:pPr>
            <a:endParaRPr lang="en-IN" b="1" dirty="0"/>
          </a:p>
          <a:p>
            <a:pPr>
              <a:buNone/>
            </a:pPr>
            <a:r>
              <a:rPr lang="en-IN" b="1" dirty="0"/>
              <a:t>Title</a:t>
            </a:r>
            <a:r>
              <a:rPr lang="en-IN" dirty="0"/>
              <a:t>: Power Trading – Intraday Market Price Forecasting</a:t>
            </a:r>
            <a:br>
              <a:rPr lang="en-IN" dirty="0"/>
            </a:br>
            <a:r>
              <a:rPr lang="en-IN" b="1" dirty="0"/>
              <a:t>Domain</a:t>
            </a:r>
            <a:r>
              <a:rPr lang="en-IN" dirty="0"/>
              <a:t>: Energy Markets, Real-Time Power Trading</a:t>
            </a:r>
            <a:br>
              <a:rPr lang="en-IN" dirty="0"/>
            </a:br>
            <a:r>
              <a:rPr lang="en-IN" b="1" dirty="0"/>
              <a:t>Objective</a:t>
            </a:r>
            <a:r>
              <a:rPr lang="en-IN" dirty="0"/>
              <a:t>:</a:t>
            </a:r>
            <a:br>
              <a:rPr lang="en-IN" dirty="0"/>
            </a:br>
            <a:r>
              <a:rPr lang="en-IN" dirty="0"/>
              <a:t>To </a:t>
            </a:r>
            <a:r>
              <a:rPr lang="en-IN" dirty="0" err="1"/>
              <a:t>analyze</a:t>
            </a:r>
            <a:r>
              <a:rPr lang="en-IN" dirty="0"/>
              <a:t> intraday electricity market data from the Indian Energy Exchange (IEX) to detect trading patterns, identify price volatility factors, and build predictive models for market clearing prices (MCP), enabling smarter energy trading decisions.</a:t>
            </a:r>
          </a:p>
          <a:p>
            <a:pPr>
              <a:buNone/>
            </a:pPr>
            <a:r>
              <a:rPr lang="en-IN" b="1" dirty="0"/>
              <a:t>Description</a:t>
            </a:r>
            <a:r>
              <a:rPr lang="en-IN" dirty="0"/>
              <a:t>:</a:t>
            </a:r>
            <a:br>
              <a:rPr lang="en-IN" dirty="0"/>
            </a:br>
            <a:r>
              <a:rPr lang="en-IN" dirty="0"/>
              <a:t>This project performs full-cycle data science implementation, including:</a:t>
            </a:r>
          </a:p>
          <a:p>
            <a:pPr>
              <a:buFont typeface="Arial" panose="020B0604020202020204" pitchFamily="34" charset="0"/>
              <a:buChar char="•"/>
            </a:pPr>
            <a:r>
              <a:rPr lang="en-IN" dirty="0"/>
              <a:t>Web scraping IEX market data (15-min interval)</a:t>
            </a:r>
          </a:p>
          <a:p>
            <a:pPr>
              <a:buFont typeface="Arial" panose="020B0604020202020204" pitchFamily="34" charset="0"/>
              <a:buChar char="•"/>
            </a:pPr>
            <a:r>
              <a:rPr lang="en-IN" dirty="0"/>
              <a:t>Preprocessing and outlier treatment</a:t>
            </a:r>
          </a:p>
          <a:p>
            <a:pPr>
              <a:buFont typeface="Arial" panose="020B0604020202020204" pitchFamily="34" charset="0"/>
              <a:buChar char="•"/>
            </a:pPr>
            <a:r>
              <a:rPr lang="en-IN" dirty="0"/>
              <a:t>Statistical moment analysis (mean, skewness, kurtosis)</a:t>
            </a:r>
          </a:p>
          <a:p>
            <a:pPr>
              <a:buFont typeface="Arial" panose="020B0604020202020204" pitchFamily="34" charset="0"/>
              <a:buChar char="•"/>
            </a:pPr>
            <a:r>
              <a:rPr lang="en-IN" dirty="0"/>
              <a:t>Visualizations (boxplots, KDE, </a:t>
            </a:r>
            <a:r>
              <a:rPr lang="en-IN" dirty="0" err="1"/>
              <a:t>pairplots</a:t>
            </a:r>
            <a:r>
              <a:rPr lang="en-IN" dirty="0"/>
              <a:t>, correlation heatmaps)</a:t>
            </a:r>
          </a:p>
          <a:p>
            <a:pPr>
              <a:buFont typeface="Arial" panose="020B0604020202020204" pitchFamily="34" charset="0"/>
              <a:buChar char="•"/>
            </a:pPr>
            <a:r>
              <a:rPr lang="en-IN" dirty="0"/>
              <a:t>Model building (ARIMA, SARIMA, ETS, Holt-Winters, Gradient Boosting)</a:t>
            </a:r>
          </a:p>
          <a:p>
            <a:pPr>
              <a:buFont typeface="Arial" panose="020B0604020202020204" pitchFamily="34" charset="0"/>
              <a:buChar char="•"/>
            </a:pPr>
            <a:r>
              <a:rPr lang="en-IN" dirty="0"/>
              <a:t>Performance comparison using RMSE</a:t>
            </a:r>
          </a:p>
          <a:p>
            <a:pPr>
              <a:buFont typeface="Arial" panose="020B0604020202020204" pitchFamily="34" charset="0"/>
              <a:buChar char="•"/>
            </a:pPr>
            <a:r>
              <a:rPr lang="en-IN" dirty="0"/>
              <a:t>Dashboard-ready output for potential deployment (e.g., </a:t>
            </a:r>
            <a:r>
              <a:rPr lang="en-IN" dirty="0" err="1"/>
              <a:t>Streamlit</a:t>
            </a:r>
            <a:r>
              <a:rPr lang="en-IN" dirty="0"/>
              <a:t>)</a:t>
            </a:r>
          </a:p>
          <a:p>
            <a:pPr>
              <a:buNone/>
            </a:pPr>
            <a:r>
              <a:rPr lang="en-IN" b="1" dirty="0"/>
              <a:t>Tools &amp; Tech Stack</a:t>
            </a:r>
            <a:r>
              <a:rPr lang="en-IN" dirty="0"/>
              <a:t>:</a:t>
            </a:r>
          </a:p>
          <a:p>
            <a:pPr>
              <a:buFont typeface="Arial" panose="020B0604020202020204" pitchFamily="34" charset="0"/>
              <a:buChar char="•"/>
            </a:pPr>
            <a:r>
              <a:rPr lang="en-IN" dirty="0"/>
              <a:t>Python (pandas, seaborn, </a:t>
            </a:r>
            <a:r>
              <a:rPr lang="en-IN" dirty="0" err="1"/>
              <a:t>statsmodels</a:t>
            </a:r>
            <a:r>
              <a:rPr lang="en-IN" dirty="0"/>
              <a:t>, scikit-learn)</a:t>
            </a:r>
          </a:p>
          <a:p>
            <a:pPr>
              <a:buFont typeface="Arial" panose="020B0604020202020204" pitchFamily="34" charset="0"/>
              <a:buChar char="•"/>
            </a:pPr>
            <a:r>
              <a:rPr lang="en-IN" dirty="0"/>
              <a:t>MySQL (for data storage)</a:t>
            </a:r>
          </a:p>
          <a:p>
            <a:pPr>
              <a:buFont typeface="Arial" panose="020B0604020202020204" pitchFamily="34" charset="0"/>
              <a:buChar char="•"/>
            </a:pPr>
            <a:r>
              <a:rPr lang="en-IN" dirty="0" err="1"/>
              <a:t>BeautifulSoup</a:t>
            </a:r>
            <a:r>
              <a:rPr lang="en-IN" dirty="0"/>
              <a:t> (web scraping)</a:t>
            </a:r>
          </a:p>
          <a:p>
            <a:pPr>
              <a:buFont typeface="Arial" panose="020B0604020202020204" pitchFamily="34" charset="0"/>
              <a:buChar char="•"/>
            </a:pPr>
            <a:r>
              <a:rPr lang="en-IN" dirty="0"/>
              <a:t>Matplotlib &amp; Seaborn (EDA &amp; plotting)</a:t>
            </a:r>
          </a:p>
          <a:p>
            <a:pPr>
              <a:buFont typeface="Arial" panose="020B0604020202020204" pitchFamily="34" charset="0"/>
              <a:buChar char="•"/>
            </a:pPr>
            <a:r>
              <a:rPr lang="en-IN" dirty="0"/>
              <a:t>ARIMA/SARIMA/ETS/Holt-Winters/LSTM/Gradient Boosting</a:t>
            </a:r>
          </a:p>
          <a:p>
            <a:pPr>
              <a:buFont typeface="Arial" panose="020B0604020202020204" pitchFamily="34" charset="0"/>
              <a:buChar char="•"/>
            </a:pPr>
            <a:r>
              <a:rPr lang="en-IN" dirty="0" err="1"/>
              <a:t>Streamlit</a:t>
            </a:r>
            <a:r>
              <a:rPr lang="en-IN" dirty="0"/>
              <a:t> </a:t>
            </a:r>
          </a:p>
          <a:p>
            <a:pPr>
              <a:buFont typeface="Arial" panose="020B0604020202020204" pitchFamily="34" charset="0"/>
              <a:buChar char="•"/>
            </a:pPr>
            <a:endParaRPr lang="en-IN" dirty="0"/>
          </a:p>
          <a:p>
            <a:endParaRPr lang="en-IN" dirty="0"/>
          </a:p>
          <a:p>
            <a:endParaRPr lang="en-IN" dirty="0"/>
          </a:p>
          <a:p>
            <a:endParaRPr dirty="0"/>
          </a:p>
        </p:txBody>
      </p:sp>
      <p:pic>
        <p:nvPicPr>
          <p:cNvPr id="4" name="Picture 2" descr="360DigiTMG Reviews - 52 Reviews of 360digitmg.com | Sitejabber">
            <a:extLst>
              <a:ext uri="{FF2B5EF4-FFF2-40B4-BE49-F238E27FC236}">
                <a16:creationId xmlns:a16="http://schemas.microsoft.com/office/drawing/2014/main" id="{B85EFEFD-9760-EE02-9C12-F2DD94011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17061-53A1-A592-34F0-54E36D49F3A1}"/>
              </a:ext>
            </a:extLst>
          </p:cNvPr>
          <p:cNvSpPr>
            <a:spLocks noGrp="1"/>
          </p:cNvSpPr>
          <p:nvPr>
            <p:ph type="title"/>
          </p:nvPr>
        </p:nvSpPr>
        <p:spPr/>
        <p:txBody>
          <a:bodyPr/>
          <a:lstStyle/>
          <a:p>
            <a:r>
              <a:rPr lang="en-IN" dirty="0"/>
              <a:t>Project Overview &amp; Scope</a:t>
            </a:r>
          </a:p>
        </p:txBody>
      </p:sp>
      <p:sp>
        <p:nvSpPr>
          <p:cNvPr id="4" name="TextBox 3">
            <a:extLst>
              <a:ext uri="{FF2B5EF4-FFF2-40B4-BE49-F238E27FC236}">
                <a16:creationId xmlns:a16="http://schemas.microsoft.com/office/drawing/2014/main" id="{913EFEAC-ADD5-9028-CB1D-0558548F519C}"/>
              </a:ext>
            </a:extLst>
          </p:cNvPr>
          <p:cNvSpPr txBox="1"/>
          <p:nvPr/>
        </p:nvSpPr>
        <p:spPr>
          <a:xfrm>
            <a:off x="108155" y="953730"/>
            <a:ext cx="9035845" cy="2246769"/>
          </a:xfrm>
          <a:prstGeom prst="rect">
            <a:avLst/>
          </a:prstGeom>
          <a:noFill/>
        </p:spPr>
        <p:txBody>
          <a:bodyPr wrap="square">
            <a:spAutoFit/>
          </a:bodyPr>
          <a:lstStyle/>
          <a:p>
            <a:pPr>
              <a:buNone/>
            </a:pPr>
            <a:r>
              <a:rPr lang="en-IN" b="1" dirty="0"/>
              <a:t>Project Scope</a:t>
            </a:r>
          </a:p>
          <a:p>
            <a:pPr>
              <a:buNone/>
            </a:pPr>
            <a:endParaRPr lang="en-IN" b="1" dirty="0"/>
          </a:p>
          <a:p>
            <a:pPr>
              <a:buFont typeface="Arial" panose="020B0604020202020204" pitchFamily="34" charset="0"/>
              <a:buChar char="•"/>
            </a:pPr>
            <a:r>
              <a:rPr lang="en-IN" dirty="0"/>
              <a:t>Scraping and storing IEX real-time market data</a:t>
            </a:r>
          </a:p>
          <a:p>
            <a:pPr>
              <a:buFont typeface="Arial" panose="020B0604020202020204" pitchFamily="34" charset="0"/>
              <a:buChar char="•"/>
            </a:pPr>
            <a:r>
              <a:rPr lang="en-IN" dirty="0"/>
              <a:t>Cleaning and normalizing market records</a:t>
            </a:r>
          </a:p>
          <a:p>
            <a:pPr>
              <a:buFont typeface="Arial" panose="020B0604020202020204" pitchFamily="34" charset="0"/>
              <a:buChar char="•"/>
            </a:pPr>
            <a:r>
              <a:rPr lang="en-IN" dirty="0"/>
              <a:t>Statistical analysis: moments (mean, variance, skewness, kurtosis)</a:t>
            </a:r>
          </a:p>
          <a:p>
            <a:pPr>
              <a:buFont typeface="Arial" panose="020B0604020202020204" pitchFamily="34" charset="0"/>
              <a:buChar char="•"/>
            </a:pPr>
            <a:r>
              <a:rPr lang="en-IN" dirty="0"/>
              <a:t>Visualizations for outlier detection, time series trends, correlation</a:t>
            </a:r>
          </a:p>
          <a:p>
            <a:pPr>
              <a:buFont typeface="Arial" panose="020B0604020202020204" pitchFamily="34" charset="0"/>
              <a:buChar char="•"/>
            </a:pPr>
            <a:r>
              <a:rPr lang="en-IN" dirty="0"/>
              <a:t>Building and evaluating forecasting models:</a:t>
            </a:r>
          </a:p>
          <a:p>
            <a:pPr marL="742950" lvl="1" indent="-285750">
              <a:buFont typeface="Arial" panose="020B0604020202020204" pitchFamily="34" charset="0"/>
              <a:buChar char="•"/>
            </a:pPr>
            <a:r>
              <a:rPr lang="en-IN" dirty="0"/>
              <a:t>ARIMA, SARIMA, ETS, Holt-Winters, Gradient Boosting</a:t>
            </a:r>
          </a:p>
          <a:p>
            <a:pPr>
              <a:buFont typeface="Arial" panose="020B0604020202020204" pitchFamily="34" charset="0"/>
              <a:buChar char="•"/>
            </a:pPr>
            <a:r>
              <a:rPr lang="en-IN" dirty="0"/>
              <a:t>RMSE-based model comparison and best model identification</a:t>
            </a:r>
          </a:p>
          <a:p>
            <a:pPr>
              <a:buFont typeface="Arial" panose="020B0604020202020204" pitchFamily="34" charset="0"/>
              <a:buChar char="•"/>
            </a:pPr>
            <a:r>
              <a:rPr lang="en-IN" dirty="0"/>
              <a:t>Optional </a:t>
            </a:r>
            <a:r>
              <a:rPr lang="en-IN" dirty="0" err="1"/>
              <a:t>Streamlit</a:t>
            </a:r>
            <a:r>
              <a:rPr lang="en-IN" dirty="0"/>
              <a:t> dashboard design for visual decision support</a:t>
            </a:r>
          </a:p>
        </p:txBody>
      </p:sp>
    </p:spTree>
    <p:extLst>
      <p:ext uri="{BB962C8B-B14F-4D97-AF65-F5344CB8AC3E}">
        <p14:creationId xmlns:p14="http://schemas.microsoft.com/office/powerpoint/2010/main" val="2860232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a:t>
            </a:r>
            <a:r>
              <a:rPr lang="en-IN" dirty="0"/>
              <a:t> Dictionary</a:t>
            </a:r>
            <a:endParaRPr dirty="0"/>
          </a:p>
        </p:txBody>
      </p:sp>
      <p:sp>
        <p:nvSpPr>
          <p:cNvPr id="3" name="TextBox 2"/>
          <p:cNvSpPr txBox="1"/>
          <p:nvPr/>
        </p:nvSpPr>
        <p:spPr>
          <a:xfrm>
            <a:off x="117987" y="894735"/>
            <a:ext cx="11857703" cy="5478423"/>
          </a:xfrm>
          <a:prstGeom prst="rect">
            <a:avLst/>
          </a:prstGeom>
          <a:noFill/>
        </p:spPr>
        <p:txBody>
          <a:bodyPr wrap="square">
            <a:spAutoFit/>
          </a:bodyPr>
          <a:lstStyle/>
          <a:p>
            <a:r>
              <a:rPr dirty="0"/>
              <a:t>- Web scraping from Indian Energy Exchange (IEX)</a:t>
            </a:r>
          </a:p>
          <a:p>
            <a:r>
              <a:rPr dirty="0"/>
              <a:t>- Market segments: DAM, RTM</a:t>
            </a:r>
          </a:p>
          <a:p>
            <a:r>
              <a:rPr dirty="0"/>
              <a:t>- 15-minute intervals with over 1 million records</a:t>
            </a:r>
          </a:p>
          <a:p>
            <a:r>
              <a:rPr dirty="0"/>
              <a:t>- Data stored and queried via MySQL database</a:t>
            </a:r>
            <a:endParaRPr lang="en-IN" dirty="0"/>
          </a:p>
          <a:p>
            <a:endParaRPr lang="en-IN" dirty="0"/>
          </a:p>
          <a:p>
            <a:r>
              <a:rPr lang="en-IN" dirty="0"/>
              <a:t>Date – The specific trading date for which market data is recorded.</a:t>
            </a:r>
          </a:p>
          <a:p>
            <a:endParaRPr lang="en-IN" dirty="0"/>
          </a:p>
          <a:p>
            <a:r>
              <a:rPr lang="en-IN" dirty="0"/>
              <a:t>Hour – The hourly time slot in the market during which transactions occur.</a:t>
            </a:r>
          </a:p>
          <a:p>
            <a:endParaRPr lang="en-IN" dirty="0"/>
          </a:p>
          <a:p>
            <a:r>
              <a:rPr lang="en-IN" dirty="0"/>
              <a:t>Session ID – A unique identifier for a particular trading session in the market.</a:t>
            </a:r>
          </a:p>
          <a:p>
            <a:endParaRPr lang="en-IN" dirty="0"/>
          </a:p>
          <a:p>
            <a:r>
              <a:rPr lang="en-IN" dirty="0"/>
              <a:t>Time block – The subdivision of an hour into smaller time slots(</a:t>
            </a:r>
            <a:r>
              <a:rPr lang="en-IN" dirty="0" err="1"/>
              <a:t>eg</a:t>
            </a:r>
            <a:r>
              <a:rPr lang="en-IN" dirty="0"/>
              <a:t>, 15-minute blocks) in which transactions are executed.</a:t>
            </a:r>
          </a:p>
          <a:p>
            <a:endParaRPr lang="en-IN" dirty="0"/>
          </a:p>
          <a:p>
            <a:r>
              <a:rPr lang="en-IN" dirty="0"/>
              <a:t>Purchase Bid</a:t>
            </a:r>
            <a:r>
              <a:rPr lang="en-US" dirty="0"/>
              <a:t> (MV) – The total electricity demand (in Megawatts) placed by buyers during a specific</a:t>
            </a:r>
            <a:r>
              <a:rPr lang="en-IN" dirty="0"/>
              <a:t> time block. </a:t>
            </a:r>
          </a:p>
          <a:p>
            <a:endParaRPr lang="en-IN" dirty="0"/>
          </a:p>
          <a:p>
            <a:r>
              <a:rPr lang="en-US" dirty="0"/>
              <a:t>Sell Bid (MV) – The total electricity demand (in Megawatts) offered by sellers during a specific time block. </a:t>
            </a:r>
          </a:p>
          <a:p>
            <a:endParaRPr lang="en-US" dirty="0"/>
          </a:p>
          <a:p>
            <a:r>
              <a:rPr lang="en-US" dirty="0"/>
              <a:t>MCV (MV) –The total volume of electricity (in Megawatts) successfully cleared in the market based on demand and supply.</a:t>
            </a:r>
          </a:p>
          <a:p>
            <a:endParaRPr lang="en-US" dirty="0"/>
          </a:p>
          <a:p>
            <a:r>
              <a:rPr lang="en-US" dirty="0"/>
              <a:t>Final Scheduled Volume (MV) – The actual volume of electricity (in Megawatts) scheduled for delivery after market settlement.</a:t>
            </a:r>
          </a:p>
          <a:p>
            <a:endParaRPr lang="en-US" dirty="0"/>
          </a:p>
          <a:p>
            <a:r>
              <a:rPr lang="en-US" dirty="0"/>
              <a:t>MCP (Rs/MWh) – The final price (in Rupees per Megawatt–hour) at which electricity is traded, determined by matching bids and offers.</a:t>
            </a:r>
          </a:p>
          <a:p>
            <a:endParaRPr lang="en-US" dirty="0"/>
          </a:p>
          <a:p>
            <a:r>
              <a:rPr lang="en-US" dirty="0"/>
              <a:t> </a:t>
            </a:r>
          </a:p>
          <a:p>
            <a:endParaRPr dirty="0"/>
          </a:p>
        </p:txBody>
      </p:sp>
      <p:pic>
        <p:nvPicPr>
          <p:cNvPr id="4" name="Picture 2" descr="360DigiTMG Reviews - 52 Reviews of 360digitmg.com | Sitejabber">
            <a:extLst>
              <a:ext uri="{FF2B5EF4-FFF2-40B4-BE49-F238E27FC236}">
                <a16:creationId xmlns:a16="http://schemas.microsoft.com/office/drawing/2014/main" id="{19038C1A-3EA6-FCBF-32BA-61D2EAC00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807C2-769E-5ECD-251B-A95C6CD93D64}"/>
              </a:ext>
            </a:extLst>
          </p:cNvPr>
          <p:cNvSpPr>
            <a:spLocks noGrp="1"/>
          </p:cNvSpPr>
          <p:nvPr>
            <p:ph type="title"/>
          </p:nvPr>
        </p:nvSpPr>
        <p:spPr/>
        <p:txBody>
          <a:bodyPr/>
          <a:lstStyle/>
          <a:p>
            <a:r>
              <a:rPr lang="en-IN" dirty="0"/>
              <a:t>Data Preprocessing </a:t>
            </a:r>
          </a:p>
        </p:txBody>
      </p:sp>
      <p:sp>
        <p:nvSpPr>
          <p:cNvPr id="4" name="TextBox 3">
            <a:extLst>
              <a:ext uri="{FF2B5EF4-FFF2-40B4-BE49-F238E27FC236}">
                <a16:creationId xmlns:a16="http://schemas.microsoft.com/office/drawing/2014/main" id="{4EE2FE69-D6BE-A40E-2D4C-52EA0001D73B}"/>
              </a:ext>
            </a:extLst>
          </p:cNvPr>
          <p:cNvSpPr txBox="1"/>
          <p:nvPr/>
        </p:nvSpPr>
        <p:spPr>
          <a:xfrm>
            <a:off x="228599" y="894735"/>
            <a:ext cx="11766755" cy="4401205"/>
          </a:xfrm>
          <a:prstGeom prst="rect">
            <a:avLst/>
          </a:prstGeom>
          <a:noFill/>
        </p:spPr>
        <p:txBody>
          <a:bodyPr wrap="square">
            <a:spAutoFit/>
          </a:bodyPr>
          <a:lstStyle/>
          <a:p>
            <a:r>
              <a:rPr lang="en-IN" b="1" dirty="0"/>
              <a:t>Column Renaming &amp; Datatype Conversion</a:t>
            </a:r>
          </a:p>
          <a:p>
            <a:r>
              <a:rPr lang="en-IN" dirty="0"/>
              <a:t>Renamed columns for clarity and consistency (e.g., </a:t>
            </a:r>
            <a:r>
              <a:rPr lang="en-IN" dirty="0" err="1"/>
              <a:t>Purchase_Bid_MW</a:t>
            </a:r>
            <a:r>
              <a:rPr lang="en-IN" dirty="0"/>
              <a:t>, </a:t>
            </a:r>
            <a:r>
              <a:rPr lang="en-IN" dirty="0" err="1"/>
              <a:t>MCP_Rs_MWh</a:t>
            </a:r>
            <a:r>
              <a:rPr lang="en-IN" dirty="0"/>
              <a:t>)</a:t>
            </a:r>
          </a:p>
          <a:p>
            <a:r>
              <a:rPr lang="en-IN" dirty="0"/>
              <a:t>Converted Date column to proper datetime format</a:t>
            </a:r>
          </a:p>
          <a:p>
            <a:r>
              <a:rPr lang="en-IN" dirty="0"/>
              <a:t>Cast numeric fields to floats using </a:t>
            </a:r>
            <a:r>
              <a:rPr lang="en-IN" dirty="0" err="1"/>
              <a:t>pd.to_numeric</a:t>
            </a:r>
            <a:r>
              <a:rPr lang="en-IN" dirty="0"/>
              <a:t> with error handling</a:t>
            </a:r>
          </a:p>
          <a:p>
            <a:endParaRPr lang="en-IN" dirty="0"/>
          </a:p>
          <a:p>
            <a:r>
              <a:rPr lang="en-IN" b="1" dirty="0"/>
              <a:t>Missing Value Imputation</a:t>
            </a:r>
          </a:p>
          <a:p>
            <a:r>
              <a:rPr lang="en-IN" dirty="0"/>
              <a:t>Numeric columns with missing values were imputed using mean imputation to maintain data integrity and avoid bias in statistical measures or model training.</a:t>
            </a:r>
          </a:p>
          <a:p>
            <a:endParaRPr lang="en-IN" dirty="0"/>
          </a:p>
          <a:p>
            <a:r>
              <a:rPr lang="en-IN" b="1" dirty="0"/>
              <a:t>Outlier Treatment</a:t>
            </a:r>
          </a:p>
          <a:p>
            <a:r>
              <a:rPr lang="en-IN" dirty="0"/>
              <a:t>Used the Interquartile Range (IQR) method to cap outliers in all numeric variables (e.g., bids, volumes, prices) to prevent model distortion.</a:t>
            </a:r>
          </a:p>
          <a:p>
            <a:endParaRPr lang="en-IN" dirty="0"/>
          </a:p>
          <a:p>
            <a:r>
              <a:rPr lang="en-IN" b="1" dirty="0"/>
              <a:t>Normalization (Min-Max Scaling)</a:t>
            </a:r>
          </a:p>
          <a:p>
            <a:r>
              <a:rPr lang="en-IN" dirty="0"/>
              <a:t>Rescaled numeric variables to a [0, 1] range using Min-Max normalization.</a:t>
            </a:r>
          </a:p>
          <a:p>
            <a:r>
              <a:rPr lang="en-IN" dirty="0"/>
              <a:t>Essential for models like Gradient Boosting and deep learning (e.g., LSTM).</a:t>
            </a:r>
          </a:p>
          <a:p>
            <a:endParaRPr lang="en-IN" dirty="0"/>
          </a:p>
          <a:p>
            <a:endParaRPr lang="en-IN" b="1" dirty="0"/>
          </a:p>
          <a:p>
            <a:r>
              <a:rPr lang="en-IN" b="1" dirty="0"/>
              <a:t>Standardization (Z-Score Scaling)</a:t>
            </a:r>
          </a:p>
          <a:p>
            <a:r>
              <a:rPr lang="en-IN" dirty="0"/>
              <a:t>Applied Z-score transformation to convert variables into a standard normal distribution (mean=0, std=1), improving model convergence for algorithms assuming Gaussian distributions.</a:t>
            </a:r>
          </a:p>
        </p:txBody>
      </p:sp>
    </p:spTree>
    <p:extLst>
      <p:ext uri="{BB962C8B-B14F-4D97-AF65-F5344CB8AC3E}">
        <p14:creationId xmlns:p14="http://schemas.microsoft.com/office/powerpoint/2010/main" val="1419736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EDA Highlights</a:t>
            </a:r>
          </a:p>
        </p:txBody>
      </p:sp>
      <p:sp>
        <p:nvSpPr>
          <p:cNvPr id="3" name="TextBox 2"/>
          <p:cNvSpPr txBox="1"/>
          <p:nvPr/>
        </p:nvSpPr>
        <p:spPr>
          <a:xfrm>
            <a:off x="228600" y="1371600"/>
            <a:ext cx="11688097" cy="1600438"/>
          </a:xfrm>
          <a:prstGeom prst="rect">
            <a:avLst/>
          </a:prstGeom>
          <a:noFill/>
        </p:spPr>
        <p:txBody>
          <a:bodyPr wrap="square">
            <a:spAutoFit/>
          </a:bodyPr>
          <a:lstStyle/>
          <a:p>
            <a:r>
              <a:rPr dirty="0"/>
              <a:t>- Boxplots: Outlier detection across bids, volumes, prices</a:t>
            </a:r>
          </a:p>
          <a:p>
            <a:r>
              <a:rPr dirty="0"/>
              <a:t>- Time series: MCP trends over time</a:t>
            </a:r>
          </a:p>
          <a:p>
            <a:r>
              <a:rPr dirty="0"/>
              <a:t>- KDE/Histogram: Price distribution</a:t>
            </a:r>
          </a:p>
          <a:p>
            <a:r>
              <a:rPr dirty="0"/>
              <a:t>- </a:t>
            </a:r>
            <a:r>
              <a:rPr dirty="0" err="1"/>
              <a:t>Pairplots</a:t>
            </a:r>
            <a:r>
              <a:rPr dirty="0"/>
              <a:t>: Bid-volume-price relationships</a:t>
            </a:r>
          </a:p>
          <a:p>
            <a:r>
              <a:rPr dirty="0"/>
              <a:t>- Heatmap: Correlation analysis</a:t>
            </a:r>
            <a:endParaRPr lang="en-IN" dirty="0"/>
          </a:p>
          <a:p>
            <a:endParaRPr lang="en-IN" dirty="0"/>
          </a:p>
          <a:p>
            <a:endParaRPr dirty="0"/>
          </a:p>
        </p:txBody>
      </p:sp>
      <p:pic>
        <p:nvPicPr>
          <p:cNvPr id="4" name="Picture 2" descr="360DigiTMG Reviews - 52 Reviews of 360digitmg.com | Sitejabber">
            <a:extLst>
              <a:ext uri="{FF2B5EF4-FFF2-40B4-BE49-F238E27FC236}">
                <a16:creationId xmlns:a16="http://schemas.microsoft.com/office/drawing/2014/main" id="{D4EBD14D-05BF-A609-BBA4-83B11F364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F6A94-522A-4F43-0B4E-260BF3C9783F}"/>
              </a:ext>
            </a:extLst>
          </p:cNvPr>
          <p:cNvSpPr>
            <a:spLocks noGrp="1"/>
          </p:cNvSpPr>
          <p:nvPr>
            <p:ph type="title"/>
          </p:nvPr>
        </p:nvSpPr>
        <p:spPr/>
        <p:txBody>
          <a:bodyPr/>
          <a:lstStyle/>
          <a:p>
            <a:r>
              <a:rPr lang="en-IN" dirty="0"/>
              <a:t>Business Insights </a:t>
            </a:r>
          </a:p>
        </p:txBody>
      </p:sp>
      <p:sp>
        <p:nvSpPr>
          <p:cNvPr id="5" name="Rectangle 3">
            <a:extLst>
              <a:ext uri="{FF2B5EF4-FFF2-40B4-BE49-F238E27FC236}">
                <a16:creationId xmlns:a16="http://schemas.microsoft.com/office/drawing/2014/main" id="{393166C2-2AEA-E1D8-A303-2341BABE2512}"/>
              </a:ext>
            </a:extLst>
          </p:cNvPr>
          <p:cNvSpPr>
            <a:spLocks noChangeArrowheads="1"/>
          </p:cNvSpPr>
          <p:nvPr/>
        </p:nvSpPr>
        <p:spPr bwMode="auto">
          <a:xfrm>
            <a:off x="0" y="1601421"/>
            <a:ext cx="12064181" cy="4303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Business Insights: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Supply &amp; Demand Trends:</a:t>
            </a:r>
            <a:endParaRPr kumimoji="0" lang="en-US" altLang="en-US"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By analyzing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Purchase_Bid_MW</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and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Sell_Bid_MW</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we can identify supply-demand gaps. If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Purchase_Bid_MW</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&gt;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Sell_Bid_MW</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there’s excess demand, which could drive MCP (Market Clearing Price) higher.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If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Sell_Bid_MW</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&gt;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Purchase_Bid_MW</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it indicates oversupply, which could lower MCP.</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Market Price Behavior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MCP_Rs_MWh</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kumimoji="0" lang="en-US" altLang="en-US"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time series chart of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MCP_Rs_MWh</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over time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helps track price fluctuations.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Understanding MCP behavior facilitates the development of price prediction models and strategic bidding by power traders.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Volatility &amp; Risk Assessment:</a:t>
            </a:r>
            <a:endParaRPr kumimoji="0" lang="en-US" altLang="en-US"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Boxplots &amp; IQR-based outlier detection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indicate market volatility and unexpected price spikes.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High volatility suggests risk for market participants and could indicate regulatory interventions or unexpected supply-demand shocks.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Correlation Between Market Variables:</a:t>
            </a:r>
            <a:endParaRPr kumimoji="0" lang="en-US" altLang="en-US"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heatmap shows interdependencies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e.g., how MCP correlates with MCV (Market Cleared Volume).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 strong correlation between </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MCV_MW and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MCP_Rs_MWh</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suggests that higher trading volumes impact clearing prices.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Trading Strategy Optimization:</a:t>
            </a:r>
            <a:endParaRPr kumimoji="0" lang="en-US" altLang="en-US"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skewness and kurtosis analysis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helps in understanding price distributions.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If MCP is </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highly skewed</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it indicates asymmetric price movements, influencing hedging strategies.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Kurtosis &gt; 3 (Leptokurtic)</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means extreme price spikes occur frequently, requiring risk management strategies.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2" descr="360DigiTMG Reviews - 52 Reviews of 360digitmg.com | Sitejabber">
            <a:extLst>
              <a:ext uri="{FF2B5EF4-FFF2-40B4-BE49-F238E27FC236}">
                <a16:creationId xmlns:a16="http://schemas.microsoft.com/office/drawing/2014/main" id="{9BB4786D-D2C0-2F0F-22F1-93668D689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271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340F3-99F4-5BA9-7022-97375973AB0E}"/>
              </a:ext>
            </a:extLst>
          </p:cNvPr>
          <p:cNvSpPr>
            <a:spLocks noGrp="1"/>
          </p:cNvSpPr>
          <p:nvPr>
            <p:ph type="title"/>
          </p:nvPr>
        </p:nvSpPr>
        <p:spPr/>
        <p:txBody>
          <a:bodyPr/>
          <a:lstStyle/>
          <a:p>
            <a:r>
              <a:rPr lang="en-IN" dirty="0"/>
              <a:t>Statistical Insights </a:t>
            </a:r>
          </a:p>
        </p:txBody>
      </p:sp>
      <p:sp>
        <p:nvSpPr>
          <p:cNvPr id="4" name="TextBox 3">
            <a:extLst>
              <a:ext uri="{FF2B5EF4-FFF2-40B4-BE49-F238E27FC236}">
                <a16:creationId xmlns:a16="http://schemas.microsoft.com/office/drawing/2014/main" id="{E1224DA7-91E4-E33C-DA5C-BA61267D1124}"/>
              </a:ext>
            </a:extLst>
          </p:cNvPr>
          <p:cNvSpPr txBox="1"/>
          <p:nvPr/>
        </p:nvSpPr>
        <p:spPr>
          <a:xfrm>
            <a:off x="157316" y="875887"/>
            <a:ext cx="11897032" cy="5212709"/>
          </a:xfrm>
          <a:prstGeom prst="rect">
            <a:avLst/>
          </a:prstGeom>
          <a:noFill/>
        </p:spPr>
        <p:txBody>
          <a:bodyPr wrap="square">
            <a:spAutoFit/>
          </a:bodyPr>
          <a:lstStyle/>
          <a:p>
            <a:pPr marL="342900" lvl="0" indent="-342900">
              <a:lnSpc>
                <a:spcPct val="115000"/>
              </a:lnSpc>
              <a:spcAft>
                <a:spcPts val="800"/>
              </a:spcAft>
              <a:buFont typeface="+mj-lt"/>
              <a:buAutoNum type="arabicPeriod"/>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Central Tendency &amp; Dispersion:</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Mean &amp; Variance</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provide a measure of central market trends and price variability.</a:t>
            </a: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High variance suggests a volatile market, requiring price stabilization policies.</a:t>
            </a:r>
          </a:p>
          <a:p>
            <a:pPr marL="342900" lvl="0" indent="-342900">
              <a:lnSpc>
                <a:spcPct val="115000"/>
              </a:lnSpc>
              <a:spcAft>
                <a:spcPts val="800"/>
              </a:spcAft>
              <a:buFont typeface="+mj-lt"/>
              <a:buAutoNum type="arabicPeriod"/>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Outlier Detection via Boxplot &amp; IQR:</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Data points beyond </a:t>
            </a: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1.5x IQR bounds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are treated as extreme market conditions.</a:t>
            </a: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Outliers may indicate regulatory interventions, demand-supply shocks, or market manipulations.</a:t>
            </a:r>
          </a:p>
          <a:p>
            <a:pPr marL="342900" lvl="0" indent="-342900">
              <a:lnSpc>
                <a:spcPct val="115000"/>
              </a:lnSpc>
              <a:spcAft>
                <a:spcPts val="800"/>
              </a:spcAft>
              <a:buFont typeface="+mj-lt"/>
              <a:buAutoNum type="arabicPeriod"/>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Normalization &amp; Standardization:</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Min-Max scaling ensures all features are within a [0,1] range for ML applications.</a:t>
            </a: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Z-score standardization helps detect </a:t>
            </a: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deviations from normal market conditions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nSpc>
                <a:spcPct val="115000"/>
              </a:lnSpc>
              <a:spcAft>
                <a:spcPts val="800"/>
              </a:spcAft>
              <a:buFont typeface="+mj-lt"/>
              <a:buAutoNum type="arabicPeriod"/>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Time-Series Analysis:</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Seasonality in MCP trends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could suggest peak trading hours with higher price volatility.</a:t>
            </a: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Identifying recurring patterns can help traders optimize their bids.</a:t>
            </a:r>
          </a:p>
          <a:p>
            <a:pPr marL="342900" lvl="0" indent="-342900">
              <a:lnSpc>
                <a:spcPct val="115000"/>
              </a:lnSpc>
              <a:spcAft>
                <a:spcPts val="800"/>
              </a:spcAft>
              <a:buFont typeface="+mj-lt"/>
              <a:buAutoNum type="arabicPeriod"/>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Histograms &amp; KDE Analysis:</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If MCP is normally distributed, pricing follows predictable trends.</a:t>
            </a:r>
          </a:p>
          <a:p>
            <a:pPr>
              <a:buNone/>
            </a:pPr>
            <a:r>
              <a:rPr lang="en-IN" dirty="0">
                <a:effectLst/>
                <a:latin typeface="Times New Roman" panose="02020603050405020304" pitchFamily="18" charset="0"/>
                <a:ea typeface="Calibri" panose="020F0502020204030204" pitchFamily="34" charset="0"/>
                <a:cs typeface="Times New Roman" panose="02020603050405020304" pitchFamily="18" charset="0"/>
              </a:rPr>
              <a:t>If MCP has </a:t>
            </a:r>
            <a:r>
              <a:rPr lang="en-IN" b="1" dirty="0">
                <a:effectLst/>
                <a:latin typeface="Times New Roman" panose="02020603050405020304" pitchFamily="18" charset="0"/>
                <a:ea typeface="Calibri" panose="020F0502020204030204" pitchFamily="34" charset="0"/>
                <a:cs typeface="Times New Roman" panose="02020603050405020304" pitchFamily="18" charset="0"/>
              </a:rPr>
              <a:t>fat tails</a:t>
            </a:r>
            <a:r>
              <a:rPr lang="en-IN" dirty="0">
                <a:effectLst/>
                <a:latin typeface="Times New Roman" panose="02020603050405020304" pitchFamily="18" charset="0"/>
                <a:ea typeface="Calibri" panose="020F0502020204030204" pitchFamily="34" charset="0"/>
                <a:cs typeface="Times New Roman" panose="02020603050405020304" pitchFamily="18" charset="0"/>
              </a:rPr>
              <a:t>, extreme price events are frequent, requiring risk hedging.</a:t>
            </a:r>
            <a:endParaRPr lang="en-IN" dirty="0">
              <a:latin typeface="Times New Roman" panose="02020603050405020304" pitchFamily="18" charset="0"/>
              <a:cs typeface="Times New Roman" panose="02020603050405020304" pitchFamily="18" charset="0"/>
            </a:endParaRPr>
          </a:p>
        </p:txBody>
      </p:sp>
      <p:pic>
        <p:nvPicPr>
          <p:cNvPr id="5" name="Picture 2" descr="360DigiTMG Reviews - 52 Reviews of 360digitmg.com | Sitejabber">
            <a:extLst>
              <a:ext uri="{FF2B5EF4-FFF2-40B4-BE49-F238E27FC236}">
                <a16:creationId xmlns:a16="http://schemas.microsoft.com/office/drawing/2014/main" id="{AD6DB269-5F43-EED8-5CF0-73F015C99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7697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Forecasting Models Used</a:t>
            </a:r>
          </a:p>
        </p:txBody>
      </p:sp>
      <p:sp>
        <p:nvSpPr>
          <p:cNvPr id="3" name="TextBox 2"/>
          <p:cNvSpPr txBox="1"/>
          <p:nvPr/>
        </p:nvSpPr>
        <p:spPr>
          <a:xfrm>
            <a:off x="914400" y="1371600"/>
            <a:ext cx="7315200" cy="5029200"/>
          </a:xfrm>
          <a:prstGeom prst="rect">
            <a:avLst/>
          </a:prstGeom>
          <a:noFill/>
        </p:spPr>
        <p:txBody>
          <a:bodyPr wrap="square">
            <a:spAutoFit/>
          </a:bodyPr>
          <a:lstStyle/>
          <a:p>
            <a:r>
              <a:t>- ARIMA: Short-term trend capture</a:t>
            </a:r>
          </a:p>
          <a:p>
            <a:r>
              <a:t>- SARIMA: Seasonality handling</a:t>
            </a:r>
          </a:p>
          <a:p>
            <a:r>
              <a:t>- ETS: Component decomposition</a:t>
            </a:r>
          </a:p>
          <a:p>
            <a:r>
              <a:t>- Holt-Winters: Trend + seasonality smoothing</a:t>
            </a:r>
          </a:p>
          <a:p>
            <a:r>
              <a:t>- LSTM: Long-term dependency via deep learning</a:t>
            </a:r>
          </a:p>
        </p:txBody>
      </p:sp>
      <p:pic>
        <p:nvPicPr>
          <p:cNvPr id="4" name="Picture 2" descr="360DigiTMG Reviews - 52 Reviews of 360digitmg.com | Sitejabber">
            <a:extLst>
              <a:ext uri="{FF2B5EF4-FFF2-40B4-BE49-F238E27FC236}">
                <a16:creationId xmlns:a16="http://schemas.microsoft.com/office/drawing/2014/main" id="{19AD067C-52EA-3051-D79A-01F16F0AFB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Architecture</a:t>
            </a:r>
          </a:p>
        </p:txBody>
      </p:sp>
      <p:sp>
        <p:nvSpPr>
          <p:cNvPr id="3" name="TextBox 2"/>
          <p:cNvSpPr txBox="1"/>
          <p:nvPr/>
        </p:nvSpPr>
        <p:spPr>
          <a:xfrm>
            <a:off x="228600" y="889819"/>
            <a:ext cx="7315200" cy="307777"/>
          </a:xfrm>
          <a:prstGeom prst="rect">
            <a:avLst/>
          </a:prstGeom>
          <a:noFill/>
        </p:spPr>
        <p:txBody>
          <a:bodyPr wrap="square">
            <a:spAutoFit/>
          </a:bodyPr>
          <a:lstStyle/>
          <a:p>
            <a:r>
              <a:rPr lang="en-IN" b="1" dirty="0"/>
              <a:t>High-Level Architecture</a:t>
            </a:r>
            <a:endParaRPr b="1" dirty="0"/>
          </a:p>
        </p:txBody>
      </p:sp>
      <p:pic>
        <p:nvPicPr>
          <p:cNvPr id="4" name="Picture 2" descr="360DigiTMG Reviews - 52 Reviews of 360digitmg.com | Sitejabber">
            <a:extLst>
              <a:ext uri="{FF2B5EF4-FFF2-40B4-BE49-F238E27FC236}">
                <a16:creationId xmlns:a16="http://schemas.microsoft.com/office/drawing/2014/main" id="{CBFFADE0-264E-919E-D9E6-BE8F30C696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DF96F08-A74B-4DD3-3732-7B270958F7D4}"/>
              </a:ext>
            </a:extLst>
          </p:cNvPr>
          <p:cNvPicPr>
            <a:picLocks noChangeAspect="1"/>
          </p:cNvPicPr>
          <p:nvPr/>
        </p:nvPicPr>
        <p:blipFill>
          <a:blip r:embed="rId3"/>
          <a:stretch>
            <a:fillRect/>
          </a:stretch>
        </p:blipFill>
        <p:spPr>
          <a:xfrm>
            <a:off x="0" y="1517316"/>
            <a:ext cx="12192000" cy="42640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2E2E5-76F4-54B3-3B9D-6233E4B44E3A}"/>
              </a:ext>
            </a:extLst>
          </p:cNvPr>
          <p:cNvSpPr>
            <a:spLocks noGrp="1"/>
          </p:cNvSpPr>
          <p:nvPr>
            <p:ph type="title"/>
          </p:nvPr>
        </p:nvSpPr>
        <p:spPr/>
        <p:txBody>
          <a:bodyPr/>
          <a:lstStyle/>
          <a:p>
            <a:r>
              <a:rPr lang="en-IN" dirty="0"/>
              <a:t>Project Architecture</a:t>
            </a:r>
          </a:p>
        </p:txBody>
      </p:sp>
      <p:sp>
        <p:nvSpPr>
          <p:cNvPr id="4" name="TextBox 3">
            <a:extLst>
              <a:ext uri="{FF2B5EF4-FFF2-40B4-BE49-F238E27FC236}">
                <a16:creationId xmlns:a16="http://schemas.microsoft.com/office/drawing/2014/main" id="{6A4FB24D-6731-9B81-30EC-9874DC29657A}"/>
              </a:ext>
            </a:extLst>
          </p:cNvPr>
          <p:cNvSpPr txBox="1"/>
          <p:nvPr/>
        </p:nvSpPr>
        <p:spPr>
          <a:xfrm>
            <a:off x="88490" y="917829"/>
            <a:ext cx="6096000" cy="307777"/>
          </a:xfrm>
          <a:prstGeom prst="rect">
            <a:avLst/>
          </a:prstGeom>
          <a:noFill/>
        </p:spPr>
        <p:txBody>
          <a:bodyPr wrap="square">
            <a:spAutoFit/>
          </a:bodyPr>
          <a:lstStyle/>
          <a:p>
            <a:r>
              <a:rPr lang="en-IN" b="1" dirty="0"/>
              <a:t>Low-Level Architecture</a:t>
            </a:r>
          </a:p>
        </p:txBody>
      </p:sp>
      <p:pic>
        <p:nvPicPr>
          <p:cNvPr id="6" name="Picture 5">
            <a:extLst>
              <a:ext uri="{FF2B5EF4-FFF2-40B4-BE49-F238E27FC236}">
                <a16:creationId xmlns:a16="http://schemas.microsoft.com/office/drawing/2014/main" id="{4121B99B-EC97-1578-C608-0B3DC12DD8AF}"/>
              </a:ext>
            </a:extLst>
          </p:cNvPr>
          <p:cNvPicPr>
            <a:picLocks noChangeAspect="1"/>
          </p:cNvPicPr>
          <p:nvPr/>
        </p:nvPicPr>
        <p:blipFill>
          <a:blip r:embed="rId2"/>
          <a:stretch>
            <a:fillRect/>
          </a:stretch>
        </p:blipFill>
        <p:spPr>
          <a:xfrm>
            <a:off x="0" y="1327355"/>
            <a:ext cx="12192000" cy="4799610"/>
          </a:xfrm>
          <a:prstGeom prst="rect">
            <a:avLst/>
          </a:prstGeom>
        </p:spPr>
      </p:pic>
      <p:pic>
        <p:nvPicPr>
          <p:cNvPr id="7" name="Picture 2" descr="360DigiTMG Reviews - 52 Reviews of 360digitmg.com | Sitejabber">
            <a:extLst>
              <a:ext uri="{FF2B5EF4-FFF2-40B4-BE49-F238E27FC236}">
                <a16:creationId xmlns:a16="http://schemas.microsoft.com/office/drawing/2014/main" id="{419F82EF-2A71-9CD4-B8A9-F1E3D95D4A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1545" y="6197749"/>
            <a:ext cx="2277039" cy="56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7697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 Overview (Streamlit)</a:t>
            </a:r>
          </a:p>
        </p:txBody>
      </p:sp>
      <p:pic>
        <p:nvPicPr>
          <p:cNvPr id="4" name="Picture 2" descr="360DigiTMG Reviews - 52 Reviews of 360digitmg.com | Sitejabber">
            <a:extLst>
              <a:ext uri="{FF2B5EF4-FFF2-40B4-BE49-F238E27FC236}">
                <a16:creationId xmlns:a16="http://schemas.microsoft.com/office/drawing/2014/main" id="{5A5F6C53-6105-33D4-767B-74E92BF8A9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4A06E31-590F-D2D5-826E-052E4BB97A34}"/>
              </a:ext>
            </a:extLst>
          </p:cNvPr>
          <p:cNvPicPr>
            <a:picLocks noChangeAspect="1"/>
          </p:cNvPicPr>
          <p:nvPr/>
        </p:nvPicPr>
        <p:blipFill>
          <a:blip r:embed="rId3"/>
          <a:stretch>
            <a:fillRect/>
          </a:stretch>
        </p:blipFill>
        <p:spPr>
          <a:xfrm>
            <a:off x="0" y="1120878"/>
            <a:ext cx="12123174" cy="48320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E0365-28E5-DCA7-0BBE-F017EE8FAE2D}"/>
              </a:ext>
            </a:extLst>
          </p:cNvPr>
          <p:cNvSpPr>
            <a:spLocks noGrp="1"/>
          </p:cNvSpPr>
          <p:nvPr>
            <p:ph type="title"/>
          </p:nvPr>
        </p:nvSpPr>
        <p:spPr/>
        <p:txBody>
          <a:bodyPr/>
          <a:lstStyle/>
          <a:p>
            <a:r>
              <a:rPr lang="en-IN" dirty="0"/>
              <a:t>Dashboard </a:t>
            </a:r>
          </a:p>
        </p:txBody>
      </p:sp>
      <p:pic>
        <p:nvPicPr>
          <p:cNvPr id="4" name="Picture 3">
            <a:extLst>
              <a:ext uri="{FF2B5EF4-FFF2-40B4-BE49-F238E27FC236}">
                <a16:creationId xmlns:a16="http://schemas.microsoft.com/office/drawing/2014/main" id="{BA39381B-E6ED-2268-66ED-9B0FB825AF62}"/>
              </a:ext>
            </a:extLst>
          </p:cNvPr>
          <p:cNvPicPr>
            <a:picLocks noChangeAspect="1"/>
          </p:cNvPicPr>
          <p:nvPr/>
        </p:nvPicPr>
        <p:blipFill>
          <a:blip r:embed="rId2"/>
          <a:stretch>
            <a:fillRect/>
          </a:stretch>
        </p:blipFill>
        <p:spPr>
          <a:xfrm>
            <a:off x="0" y="843031"/>
            <a:ext cx="12174419" cy="5164479"/>
          </a:xfrm>
          <a:prstGeom prst="rect">
            <a:avLst/>
          </a:prstGeom>
        </p:spPr>
      </p:pic>
      <p:pic>
        <p:nvPicPr>
          <p:cNvPr id="5" name="Picture 2" descr="360DigiTMG Reviews - 52 Reviews of 360digitmg.com | Sitejabber">
            <a:extLst>
              <a:ext uri="{FF2B5EF4-FFF2-40B4-BE49-F238E27FC236}">
                <a16:creationId xmlns:a16="http://schemas.microsoft.com/office/drawing/2014/main" id="{A81284F4-8B16-ACEF-A038-C04E59583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1545" y="6153931"/>
            <a:ext cx="2277039" cy="607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261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Acknowledgments</a:t>
            </a:r>
          </a:p>
        </p:txBody>
      </p:sp>
      <p:sp>
        <p:nvSpPr>
          <p:cNvPr id="3" name="TextBox 2"/>
          <p:cNvSpPr txBox="1"/>
          <p:nvPr/>
        </p:nvSpPr>
        <p:spPr>
          <a:xfrm>
            <a:off x="914400" y="1371600"/>
            <a:ext cx="7315200" cy="523220"/>
          </a:xfrm>
          <a:prstGeom prst="rect">
            <a:avLst/>
          </a:prstGeom>
          <a:noFill/>
        </p:spPr>
        <p:txBody>
          <a:bodyPr wrap="square">
            <a:spAutoFit/>
          </a:bodyPr>
          <a:lstStyle/>
          <a:p>
            <a:r>
              <a:rPr dirty="0"/>
              <a:t>- Vaishnavi Cheera, </a:t>
            </a:r>
            <a:r>
              <a:rPr lang="en-IN" dirty="0"/>
              <a:t>Intern</a:t>
            </a:r>
            <a:endParaRPr dirty="0"/>
          </a:p>
          <a:p>
            <a:r>
              <a:rPr dirty="0"/>
              <a:t>- Tools used: Python, </a:t>
            </a:r>
            <a:r>
              <a:rPr dirty="0" err="1"/>
              <a:t>Streamlit</a:t>
            </a:r>
            <a:r>
              <a:rPr dirty="0"/>
              <a:t>, </a:t>
            </a:r>
            <a:r>
              <a:rPr dirty="0" err="1"/>
              <a:t>MyS</a:t>
            </a:r>
            <a:r>
              <a:rPr lang="en-IN" dirty="0"/>
              <a:t>QL</a:t>
            </a:r>
            <a:endParaRPr dirty="0"/>
          </a:p>
        </p:txBody>
      </p:sp>
      <p:pic>
        <p:nvPicPr>
          <p:cNvPr id="4" name="Picture 2" descr="360DigiTMG Reviews - 52 Reviews of 360digitmg.com | Sitejabber">
            <a:extLst>
              <a:ext uri="{FF2B5EF4-FFF2-40B4-BE49-F238E27FC236}">
                <a16:creationId xmlns:a16="http://schemas.microsoft.com/office/drawing/2014/main" id="{C5E4A3B7-C82F-6B07-F0AF-F30E76E01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545" y="5952931"/>
            <a:ext cx="2277039" cy="808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792</TotalTime>
  <Words>1353</Words>
  <Application>Microsoft Office PowerPoint</Application>
  <PresentationFormat>Widescreen</PresentationFormat>
  <Paragraphs>164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Times New Roman</vt:lpstr>
      <vt:lpstr>Calibri</vt:lpstr>
      <vt:lpstr>Georgia</vt:lpstr>
      <vt:lpstr>Courier New</vt:lpstr>
      <vt:lpstr>Office Theme</vt:lpstr>
      <vt:lpstr>POWER TRADING</vt:lpstr>
      <vt:lpstr>Contents</vt:lpstr>
      <vt:lpstr>Business Problem</vt:lpstr>
      <vt:lpstr>Project Overview &amp; Scope</vt:lpstr>
      <vt:lpstr>Project Overview &amp; Scope</vt:lpstr>
      <vt:lpstr>Data Dictionary</vt:lpstr>
      <vt:lpstr>Data Preprocessing </vt:lpstr>
      <vt:lpstr>EDA Highlights</vt:lpstr>
      <vt:lpstr>Business Insights </vt:lpstr>
      <vt:lpstr>Statistical Insights </vt:lpstr>
      <vt:lpstr>Forecasting Models Used</vt:lpstr>
      <vt:lpstr>Project Architecture</vt:lpstr>
      <vt:lpstr>Project Architecture</vt:lpstr>
      <vt:lpstr>Dashboard Overview (Streamlit)</vt:lpstr>
      <vt:lpstr>Dashboard </vt:lpstr>
      <vt:lpstr>Acknowledgments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BARTHWAL</dc:creator>
  <cp:lastModifiedBy>Vaishnavi Cheera</cp:lastModifiedBy>
  <cp:revision>25</cp:revision>
  <dcterms:created xsi:type="dcterms:W3CDTF">2022-02-16T01:47:29Z</dcterms:created>
  <dcterms:modified xsi:type="dcterms:W3CDTF">2025-04-15T12:16:48Z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ies>
</file>